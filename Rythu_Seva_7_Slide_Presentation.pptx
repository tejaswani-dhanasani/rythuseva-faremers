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4" r:id="rId10"/>
    <p:sldId id="263" r:id="rId11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hyperlink" Target="rythusseva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4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10744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RYTHU SEVA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>
                <a:solidFill>
                  <a:srgbClr val="D6A53A"/>
                </a:solidFill>
              </a:defRPr>
            </a:pPr>
            <a:r>
              <a:t>Farmer Benefit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971800"/>
            <a:ext cx="8065770" cy="177292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rPr sz="2800"/>
              <a:t>A digital platform connecting farmers with government schemes, </a:t>
            </a:r>
            <a:endParaRPr sz="2800"/>
          </a:p>
          <a:p>
            <a:pPr>
              <a:defRPr sz="2200">
                <a:solidFill>
                  <a:srgbClr val="FFFFFF"/>
                </a:solidFill>
              </a:defRPr>
            </a:pPr>
            <a:r>
              <a:rPr sz="2800"/>
              <a:t>agricultural services and financial benefits.</a:t>
            </a:r>
            <a:endParaRPr sz="2800"/>
          </a:p>
        </p:txBody>
      </p:sp>
      <p:sp>
        <p:nvSpPr>
          <p:cNvPr id="6" name="TextBox 5"/>
          <p:cNvSpPr txBox="1"/>
          <p:nvPr/>
        </p:nvSpPr>
        <p:spPr>
          <a:xfrm>
            <a:off x="5545455" y="5166360"/>
            <a:ext cx="6473190" cy="10763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rPr lang="en-IN" sz="3200">
                <a:latin typeface="Bodoni MT Black" panose="02070A03080606020203" charset="0"/>
                <a:ea typeface="Microsoft YaHei" panose="020B0503020204020204" charset="-122"/>
                <a:cs typeface="Bodoni MT Black" panose="02070A03080606020203" charset="0"/>
              </a:rPr>
              <a:t>By</a:t>
            </a:r>
            <a:endParaRPr lang="en-IN" sz="3200">
              <a:latin typeface="Bodoni MT Black" panose="02070A03080606020203" charset="0"/>
              <a:ea typeface="Microsoft YaHei" panose="020B0503020204020204" charset="-122"/>
              <a:cs typeface="Bodoni MT Black" panose="02070A03080606020203" charset="0"/>
            </a:endParaRP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lang="en-IN" sz="3200">
                <a:latin typeface="Bodoni MT Black" panose="02070A03080606020203" charset="0"/>
                <a:ea typeface="Microsoft YaHei" panose="020B0503020204020204" charset="-122"/>
                <a:cs typeface="Bodoni MT Black" panose="02070A03080606020203" charset="0"/>
              </a:rPr>
              <a:t>Dhanasani Himasai Tejaswani</a:t>
            </a:r>
            <a:endParaRPr lang="en-IN" sz="3200">
              <a:latin typeface="Bodoni MT Black" panose="02070A03080606020203" charset="0"/>
              <a:ea typeface="Microsoft YaHei" panose="020B0503020204020204" charset="-122"/>
              <a:cs typeface="Bodoni MT Black" panose="02070A03080606020203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104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0" y="6629400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3505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0432A"/>
                </a:solidFill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7960" y="975360"/>
            <a:ext cx="4812665" cy="36766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1400">
                <a:solidFill>
                  <a:srgbClr val="646E69"/>
                </a:solidFill>
              </a:defRPr>
            </a:pPr>
            <a:r>
              <a:rPr sz="1600">
                <a:latin typeface="Bodoni MT Black" panose="02070A03080606020203" charset="0"/>
                <a:cs typeface="Bodoni MT Black" panose="02070A03080606020203" charset="0"/>
              </a:rPr>
              <a:t>Why a farmer-focused digital portal is useful</a:t>
            </a:r>
            <a:endParaRPr sz="1600">
              <a:latin typeface="Bodoni MT Black" panose="02070A03080606020203" charset="0"/>
              <a:cs typeface="Bodoni MT Black" panose="02070A03080606020203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3474720" cy="1828800"/>
          </a:xfrm>
          <a:prstGeom prst="roundRect">
            <a:avLst/>
          </a:prstGeom>
          <a:solidFill>
            <a:srgbClr val="E1F1E5"/>
          </a:solidFill>
          <a:ln>
            <a:solidFill>
              <a:srgbClr val="CDE1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73152" cy="1828800"/>
          </a:xfrm>
          <a:prstGeom prst="rect">
            <a:avLst/>
          </a:prstGeom>
          <a:solidFill>
            <a:srgbClr val="23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30632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0432A"/>
                </a:solidFill>
              </a:defRPr>
            </a:pPr>
            <a:r>
              <a:t>Limited access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84248"/>
            <a:ext cx="319976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232D28"/>
                </a:solidFill>
              </a:defRPr>
            </a:pPr>
            <a:r>
              <a:rPr sz="2000"/>
              <a:t>Farmers may need to visit </a:t>
            </a:r>
            <a:endParaRPr sz="2000"/>
          </a:p>
          <a:p>
            <a:pPr>
              <a:defRPr sz="1350">
                <a:solidFill>
                  <a:srgbClr val="232D28"/>
                </a:solidFill>
              </a:defRPr>
            </a:pPr>
            <a:r>
              <a:rPr sz="2000"/>
              <a:t>different offices</a:t>
            </a:r>
            <a:r>
              <a:rPr lang="en-IN" sz="2000"/>
              <a:t> </a:t>
            </a:r>
            <a:r>
              <a:rPr sz="2000"/>
              <a:t>or websites </a:t>
            </a:r>
            <a:endParaRPr sz="2000"/>
          </a:p>
          <a:p>
            <a:pPr>
              <a:defRPr sz="1350">
                <a:solidFill>
                  <a:srgbClr val="232D28"/>
                </a:solidFill>
              </a:defRPr>
            </a:pPr>
            <a:r>
              <a:rPr sz="2000"/>
              <a:t>to find schemes and services.</a:t>
            </a:r>
            <a:endParaRPr sz="2000"/>
          </a:p>
        </p:txBody>
      </p:sp>
      <p:sp>
        <p:nvSpPr>
          <p:cNvPr id="9" name="Rounded Rectangle 8"/>
          <p:cNvSpPr/>
          <p:nvPr/>
        </p:nvSpPr>
        <p:spPr>
          <a:xfrm>
            <a:off x="4343400" y="1417320"/>
            <a:ext cx="3474720" cy="1828800"/>
          </a:xfrm>
          <a:prstGeom prst="roundRect">
            <a:avLst/>
          </a:prstGeom>
          <a:solidFill>
            <a:srgbClr val="E1F1E5"/>
          </a:solidFill>
          <a:ln>
            <a:solidFill>
              <a:srgbClr val="CDE1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417320"/>
            <a:ext cx="73152" cy="1828800"/>
          </a:xfrm>
          <a:prstGeom prst="rect">
            <a:avLst/>
          </a:prstGeom>
          <a:solidFill>
            <a:srgbClr val="1E6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554480"/>
            <a:ext cx="30632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0432A"/>
                </a:solidFill>
              </a:defRPr>
            </a:pPr>
            <a:r>
              <a:t>Scattered information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6110" y="1842135"/>
            <a:ext cx="3469640" cy="146431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1350">
                <a:solidFill>
                  <a:srgbClr val="232D28"/>
                </a:solidFill>
              </a:defRPr>
            </a:pPr>
            <a:r>
              <a:rPr sz="2000"/>
              <a:t>Scheme details, eligibility, </a:t>
            </a:r>
            <a:endParaRPr sz="2000"/>
          </a:p>
          <a:p>
            <a:pPr>
              <a:defRPr sz="1350">
                <a:solidFill>
                  <a:srgbClr val="232D28"/>
                </a:solidFill>
              </a:defRPr>
            </a:pPr>
            <a:r>
              <a:rPr sz="2000"/>
              <a:t>documents and</a:t>
            </a:r>
            <a:r>
              <a:rPr lang="en-IN" sz="2000"/>
              <a:t> </a:t>
            </a:r>
            <a:r>
              <a:rPr sz="2000"/>
              <a:t>official links </a:t>
            </a:r>
            <a:endParaRPr sz="2000"/>
          </a:p>
          <a:p>
            <a:pPr>
              <a:defRPr sz="1350">
                <a:solidFill>
                  <a:srgbClr val="232D28"/>
                </a:solidFill>
              </a:defRPr>
            </a:pPr>
            <a:r>
              <a:rPr sz="2000"/>
              <a:t>are not always available in one</a:t>
            </a:r>
            <a:endParaRPr sz="2000"/>
          </a:p>
          <a:p>
            <a:pPr>
              <a:defRPr sz="1350">
                <a:solidFill>
                  <a:srgbClr val="232D28"/>
                </a:solidFill>
              </a:defRPr>
            </a:pPr>
            <a:r>
              <a:rPr sz="2000"/>
              <a:t>simple place.</a:t>
            </a:r>
            <a:endParaRPr sz="2000"/>
          </a:p>
        </p:txBody>
      </p:sp>
      <p:sp>
        <p:nvSpPr>
          <p:cNvPr id="13" name="Rounded Rectangle 12"/>
          <p:cNvSpPr/>
          <p:nvPr/>
        </p:nvSpPr>
        <p:spPr>
          <a:xfrm>
            <a:off x="8046720" y="1417320"/>
            <a:ext cx="3474720" cy="1828800"/>
          </a:xfrm>
          <a:prstGeom prst="roundRect">
            <a:avLst/>
          </a:prstGeom>
          <a:solidFill>
            <a:srgbClr val="E1F1E5"/>
          </a:solidFill>
          <a:ln>
            <a:solidFill>
              <a:srgbClr val="CDE1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417320"/>
            <a:ext cx="73152" cy="1828800"/>
          </a:xfrm>
          <a:prstGeom prst="rect">
            <a:avLst/>
          </a:prstGeom>
          <a:solidFill>
            <a:srgbClr val="D6A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1554480"/>
            <a:ext cx="30632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0432A"/>
                </a:solidFill>
              </a:defRPr>
            </a:pPr>
            <a:r>
              <a:t>Benefit tracking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1984248"/>
            <a:ext cx="330517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232D28"/>
                </a:solidFill>
              </a:defRPr>
            </a:pPr>
            <a:r>
              <a:rPr sz="2000"/>
              <a:t>Farmers need a simple way to </a:t>
            </a:r>
            <a:endParaRPr sz="2000"/>
          </a:p>
          <a:p>
            <a:pPr>
              <a:defRPr sz="1350">
                <a:solidFill>
                  <a:srgbClr val="232D28"/>
                </a:solidFill>
              </a:defRPr>
            </a:pPr>
            <a:r>
              <a:rPr sz="2000"/>
              <a:t>view applications, benefits </a:t>
            </a:r>
            <a:endParaRPr sz="2000"/>
          </a:p>
          <a:p>
            <a:pPr>
              <a:defRPr sz="1350">
                <a:solidFill>
                  <a:srgbClr val="232D28"/>
                </a:solidFill>
              </a:defRPr>
            </a:pPr>
            <a:r>
              <a:rPr sz="2000"/>
              <a:t>and demo payment status.</a:t>
            </a:r>
            <a:endParaRPr sz="2000"/>
          </a:p>
        </p:txBody>
      </p:sp>
      <p:sp>
        <p:nvSpPr>
          <p:cNvPr id="17" name="Rounded Rectangle 16"/>
          <p:cNvSpPr/>
          <p:nvPr/>
        </p:nvSpPr>
        <p:spPr>
          <a:xfrm>
            <a:off x="2514600" y="3703320"/>
            <a:ext cx="3474720" cy="1691640"/>
          </a:xfrm>
          <a:prstGeom prst="roundRect">
            <a:avLst/>
          </a:prstGeom>
          <a:solidFill>
            <a:srgbClr val="E1F1E5"/>
          </a:solidFill>
          <a:ln>
            <a:solidFill>
              <a:srgbClr val="CDE1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14600" y="3703320"/>
            <a:ext cx="73152" cy="1691640"/>
          </a:xfrm>
          <a:prstGeom prst="rect">
            <a:avLst/>
          </a:prstGeom>
          <a:solidFill>
            <a:srgbClr val="1E6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0" y="3840480"/>
            <a:ext cx="30632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0432A"/>
                </a:solidFill>
              </a:defRPr>
            </a:pPr>
            <a:r>
              <a:t>Language barrier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4270248"/>
            <a:ext cx="3136900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232D28"/>
                </a:solidFill>
              </a:defRPr>
            </a:pPr>
            <a:r>
              <a:rPr sz="2000"/>
              <a:t>The portal supports English </a:t>
            </a:r>
            <a:endParaRPr sz="2000"/>
          </a:p>
          <a:p>
            <a:pPr>
              <a:defRPr sz="1350">
                <a:solidFill>
                  <a:srgbClr val="232D28"/>
                </a:solidFill>
              </a:defRPr>
            </a:pPr>
            <a:r>
              <a:rPr sz="2000"/>
              <a:t>and Telugu so information is </a:t>
            </a:r>
            <a:endParaRPr sz="2000"/>
          </a:p>
          <a:p>
            <a:pPr>
              <a:defRPr sz="1350">
                <a:solidFill>
                  <a:srgbClr val="232D28"/>
                </a:solidFill>
              </a:defRPr>
            </a:pPr>
            <a:r>
              <a:rPr sz="2000"/>
              <a:t>easier to und</a:t>
            </a:r>
            <a:r>
              <a:rPr sz="2000"/>
              <a:t>erstand.</a:t>
            </a:r>
            <a:endParaRPr sz="2000"/>
          </a:p>
        </p:txBody>
      </p:sp>
      <p:sp>
        <p:nvSpPr>
          <p:cNvPr id="21" name="Rounded Rectangle 20"/>
          <p:cNvSpPr/>
          <p:nvPr/>
        </p:nvSpPr>
        <p:spPr>
          <a:xfrm>
            <a:off x="6217920" y="3703320"/>
            <a:ext cx="3474720" cy="1691640"/>
          </a:xfrm>
          <a:prstGeom prst="roundRect">
            <a:avLst/>
          </a:prstGeom>
          <a:solidFill>
            <a:srgbClr val="E1F1E5"/>
          </a:solidFill>
          <a:ln>
            <a:solidFill>
              <a:srgbClr val="CDE1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3703320"/>
            <a:ext cx="73152" cy="1691640"/>
          </a:xfrm>
          <a:prstGeom prst="rect">
            <a:avLst/>
          </a:prstGeom>
          <a:solidFill>
            <a:srgbClr val="23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3840480"/>
            <a:ext cx="30632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0432A"/>
                </a:solidFill>
              </a:defRPr>
            </a:pPr>
            <a:r>
              <a:t>Digital convenience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4221480"/>
            <a:ext cx="3640455" cy="106362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1350">
                <a:solidFill>
                  <a:srgbClr val="232D28"/>
                </a:solidFill>
              </a:defRPr>
            </a:pPr>
            <a:r>
              <a:rPr sz="2000"/>
              <a:t>A responsive interface can </a:t>
            </a:r>
            <a:endParaRPr sz="2000"/>
          </a:p>
          <a:p>
            <a:pPr>
              <a:defRPr sz="1350">
                <a:solidFill>
                  <a:srgbClr val="232D28"/>
                </a:solidFill>
              </a:defRPr>
            </a:pPr>
            <a:r>
              <a:rPr sz="2000"/>
              <a:t>bring important farmer services </a:t>
            </a:r>
            <a:endParaRPr sz="2000"/>
          </a:p>
          <a:p>
            <a:pPr>
              <a:defRPr sz="1350">
                <a:solidFill>
                  <a:srgbClr val="232D28"/>
                </a:solidFill>
              </a:defRPr>
            </a:pPr>
            <a:r>
              <a:rPr sz="2000"/>
              <a:t>together on low-cost devices.</a:t>
            </a:r>
            <a:endParaRPr sz="2000"/>
          </a:p>
        </p:txBody>
      </p:sp>
      <p:sp>
        <p:nvSpPr>
          <p:cNvPr id="25" name="Rectangle 2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104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0" y="6629400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0432A"/>
                </a:solidFill>
              </a:defRPr>
            </a:pPr>
            <a:r>
              <a:t>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665" y="1166495"/>
            <a:ext cx="6287770" cy="56134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1400">
                <a:solidFill>
                  <a:srgbClr val="646E69"/>
                </a:solidFill>
              </a:defRPr>
            </a:pPr>
            <a:r>
              <a:rPr sz="1600">
                <a:latin typeface="Bodoni MT Black" panose="02070A03080606020203" charset="0"/>
                <a:cs typeface="Bodoni MT Black" panose="02070A03080606020203" charset="0"/>
              </a:rPr>
              <a:t>RYTHU SEVA brings key farmer services into one interface</a:t>
            </a:r>
            <a:endParaRPr sz="1600">
              <a:latin typeface="Bodoni MT Black" panose="02070A03080606020203" charset="0"/>
              <a:cs typeface="Bodoni MT Black" panose="02070A03080606020203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1924685"/>
            <a:ext cx="6675120" cy="411035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232D28"/>
                </a:solidFill>
              </a:defRPr>
            </a:pPr>
            <a:r>
              <a:t>• Central and Andhra Pradesh government scheme information</a:t>
            </a:r>
          </a:p>
          <a:p>
            <a:pPr>
              <a:spcAft>
                <a:spcPts val="1100"/>
              </a:spcAft>
              <a:defRPr sz="1800">
                <a:solidFill>
                  <a:srgbClr val="232D28"/>
                </a:solidFill>
              </a:defRPr>
            </a:pPr>
            <a:r>
              <a:t>• Search and filter schemes by category</a:t>
            </a:r>
          </a:p>
          <a:p>
            <a:pPr>
              <a:spcAft>
                <a:spcPts val="1100"/>
              </a:spcAft>
              <a:defRPr sz="1800">
                <a:solidFill>
                  <a:srgbClr val="232D28"/>
                </a:solidFill>
              </a:defRPr>
            </a:pPr>
            <a:r>
              <a:t>• Eligibility, benefits and required documents</a:t>
            </a:r>
          </a:p>
          <a:p>
            <a:pPr>
              <a:spcAft>
                <a:spcPts val="1100"/>
              </a:spcAft>
              <a:defRPr sz="1800">
                <a:solidFill>
                  <a:srgbClr val="232D28"/>
                </a:solidFill>
              </a:defRPr>
            </a:pPr>
            <a:r>
              <a:t>• Official website links for further action</a:t>
            </a:r>
          </a:p>
          <a:p>
            <a:pPr>
              <a:spcAft>
                <a:spcPts val="1100"/>
              </a:spcAft>
              <a:defRPr sz="1800">
                <a:solidFill>
                  <a:srgbClr val="232D28"/>
                </a:solidFill>
              </a:defRPr>
            </a:pPr>
            <a:r>
              <a:t>• Farmer profile and dashboard</a:t>
            </a:r>
          </a:p>
          <a:p>
            <a:pPr>
              <a:spcAft>
                <a:spcPts val="1100"/>
              </a:spcAft>
              <a:defRPr sz="1800">
                <a:solidFill>
                  <a:srgbClr val="232D28"/>
                </a:solidFill>
              </a:defRPr>
            </a:pPr>
            <a:r>
              <a:t>• Benefits and payment-status demo</a:t>
            </a:r>
          </a:p>
          <a:p>
            <a:pPr>
              <a:spcAft>
                <a:spcPts val="1100"/>
              </a:spcAft>
              <a:defRPr sz="1800">
                <a:solidFill>
                  <a:srgbClr val="232D28"/>
                </a:solidFill>
              </a:defRPr>
            </a:pPr>
            <a:r>
              <a:t>• English ↔ Telugu language switching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104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0" y="6629400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3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53275" y="1918970"/>
            <a:ext cx="4784090" cy="37249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0432A"/>
                </a:solidFill>
              </a:defRPr>
            </a:pPr>
            <a:r>
              <a:t>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E69"/>
                </a:solidFill>
              </a:defRPr>
            </a:pPr>
            <a:r>
              <a:t>What the current prototype demonstrates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80160"/>
            <a:ext cx="5257800" cy="987552"/>
          </a:xfrm>
          <a:prstGeom prst="roundRect">
            <a:avLst/>
          </a:prstGeom>
          <a:solidFill>
            <a:srgbClr val="E1F1E5"/>
          </a:solidFill>
          <a:ln>
            <a:solidFill>
              <a:srgbClr val="CDE1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280160"/>
            <a:ext cx="73152" cy="987552"/>
          </a:xfrm>
          <a:prstGeom prst="rect">
            <a:avLst/>
          </a:prstGeom>
          <a:solidFill>
            <a:srgbClr val="1E6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17319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0432A"/>
                </a:solidFill>
              </a:defRPr>
            </a:pPr>
            <a:r>
              <a:t>Government Schemes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47088"/>
            <a:ext cx="484632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232D28"/>
                </a:solidFill>
              </a:defRPr>
            </a:pPr>
            <a:r>
              <a:t>Central + Andhra Pradesh scheme catalogue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280160"/>
            <a:ext cx="5257800" cy="987552"/>
          </a:xfrm>
          <a:prstGeom prst="roundRect">
            <a:avLst/>
          </a:prstGeom>
          <a:solidFill>
            <a:srgbClr val="E1F1E5"/>
          </a:solidFill>
          <a:ln>
            <a:solidFill>
              <a:srgbClr val="CDE1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280160"/>
            <a:ext cx="73152" cy="987552"/>
          </a:xfrm>
          <a:prstGeom prst="rect">
            <a:avLst/>
          </a:prstGeom>
          <a:solidFill>
            <a:srgbClr val="23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417319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0432A"/>
                </a:solidFill>
              </a:defRPr>
            </a:pPr>
            <a:r>
              <a:t>Scheme Search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1847088"/>
            <a:ext cx="484632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232D28"/>
                </a:solidFill>
              </a:defRPr>
            </a:pPr>
            <a:r>
              <a:t>Search schemes by name and category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542032"/>
            <a:ext cx="5257800" cy="987552"/>
          </a:xfrm>
          <a:prstGeom prst="roundRect">
            <a:avLst/>
          </a:prstGeom>
          <a:solidFill>
            <a:srgbClr val="E1F1E5"/>
          </a:solidFill>
          <a:ln>
            <a:solidFill>
              <a:srgbClr val="CDE1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2542032"/>
            <a:ext cx="73152" cy="987552"/>
          </a:xfrm>
          <a:prstGeom prst="rect">
            <a:avLst/>
          </a:prstGeom>
          <a:solidFill>
            <a:srgbClr val="1E6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679191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0432A"/>
                </a:solidFill>
              </a:defRPr>
            </a:pPr>
            <a:r>
              <a:t>Scheme Details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108960"/>
            <a:ext cx="484632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232D28"/>
                </a:solidFill>
              </a:defRPr>
            </a:pPr>
            <a:r>
              <a:t>Description, eligibility, benefits and documents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542032"/>
            <a:ext cx="5257800" cy="987552"/>
          </a:xfrm>
          <a:prstGeom prst="roundRect">
            <a:avLst/>
          </a:prstGeom>
          <a:solidFill>
            <a:srgbClr val="E1F1E5"/>
          </a:solidFill>
          <a:ln>
            <a:solidFill>
              <a:srgbClr val="CDE1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2542032"/>
            <a:ext cx="73152" cy="987552"/>
          </a:xfrm>
          <a:prstGeom prst="rect">
            <a:avLst/>
          </a:prstGeom>
          <a:solidFill>
            <a:srgbClr val="23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2679191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0432A"/>
                </a:solidFill>
              </a:defRPr>
            </a:pPr>
            <a:r>
              <a:t>Farmer Dashboard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3108960"/>
            <a:ext cx="484632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232D28"/>
                </a:solidFill>
              </a:defRPr>
            </a:pPr>
            <a:r>
              <a:t>Schemes, benefits, applications and bank status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803904"/>
            <a:ext cx="5257800" cy="987552"/>
          </a:xfrm>
          <a:prstGeom prst="roundRect">
            <a:avLst/>
          </a:prstGeom>
          <a:solidFill>
            <a:srgbClr val="E1F1E5"/>
          </a:solidFill>
          <a:ln>
            <a:solidFill>
              <a:srgbClr val="CDE1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3803904"/>
            <a:ext cx="73152" cy="987552"/>
          </a:xfrm>
          <a:prstGeom prst="rect">
            <a:avLst/>
          </a:prstGeom>
          <a:solidFill>
            <a:srgbClr val="1E6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941064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0432A"/>
                </a:solidFill>
              </a:defRPr>
            </a:pPr>
            <a:r>
              <a:t>Payment Demo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370832"/>
            <a:ext cx="484632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232D28"/>
                </a:solidFill>
              </a:defRPr>
            </a:pPr>
            <a:r>
              <a:t>Sample benefit/payment status for demonstration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3803904"/>
            <a:ext cx="5257800" cy="987552"/>
          </a:xfrm>
          <a:prstGeom prst="roundRect">
            <a:avLst/>
          </a:prstGeom>
          <a:solidFill>
            <a:srgbClr val="E1F1E5"/>
          </a:solidFill>
          <a:ln>
            <a:solidFill>
              <a:srgbClr val="CDE1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09360" y="3803904"/>
            <a:ext cx="73152" cy="987552"/>
          </a:xfrm>
          <a:prstGeom prst="rect">
            <a:avLst/>
          </a:prstGeom>
          <a:solidFill>
            <a:srgbClr val="23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60" y="3941064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0432A"/>
                </a:solidFill>
              </a:defRPr>
            </a:pPr>
            <a:r>
              <a:t>Documents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4370832"/>
            <a:ext cx="484632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232D28"/>
                </a:solidFill>
              </a:defRPr>
            </a:pPr>
            <a:r>
              <a:t>Checklist to help farmers prepare applications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5065775"/>
            <a:ext cx="5257800" cy="987552"/>
          </a:xfrm>
          <a:prstGeom prst="roundRect">
            <a:avLst/>
          </a:prstGeom>
          <a:solidFill>
            <a:srgbClr val="E1F1E5"/>
          </a:solidFill>
          <a:ln>
            <a:solidFill>
              <a:srgbClr val="CDE1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85800" y="5065775"/>
            <a:ext cx="73152" cy="987552"/>
          </a:xfrm>
          <a:prstGeom prst="rect">
            <a:avLst/>
          </a:prstGeom>
          <a:solidFill>
            <a:srgbClr val="1E6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5202936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0432A"/>
                </a:solidFill>
              </a:defRPr>
            </a:pPr>
            <a:r>
              <a:t>Bilingual UI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632703"/>
            <a:ext cx="484632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232D28"/>
                </a:solidFill>
              </a:defRPr>
            </a:pPr>
            <a:r>
              <a:t>English and Telugu page-wide translation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09360" y="5065775"/>
            <a:ext cx="5257800" cy="987552"/>
          </a:xfrm>
          <a:prstGeom prst="roundRect">
            <a:avLst/>
          </a:prstGeom>
          <a:solidFill>
            <a:srgbClr val="E1F1E5"/>
          </a:solidFill>
          <a:ln>
            <a:solidFill>
              <a:srgbClr val="CDE1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309360" y="5065775"/>
            <a:ext cx="73152" cy="987552"/>
          </a:xfrm>
          <a:prstGeom prst="rect">
            <a:avLst/>
          </a:prstGeom>
          <a:solidFill>
            <a:srgbClr val="23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37960" y="5202936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0432A"/>
                </a:solidFill>
              </a:defRPr>
            </a:pPr>
            <a:r>
              <a:t>Official Links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7960" y="5632703"/>
            <a:ext cx="484632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232D28"/>
                </a:solidFill>
              </a:defRPr>
            </a:pPr>
            <a:r>
              <a:t>Direct links to official scheme portals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104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972800" y="6629400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0432A"/>
                </a:solidFill>
              </a:defRPr>
            </a:pPr>
            <a:r>
              <a:t>Government Schemes Covered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E69"/>
                </a:solidFill>
              </a:defRPr>
            </a:pPr>
            <a:r>
              <a:t>Examples included in the project catalogue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5394960" cy="1965960"/>
          </a:xfrm>
          <a:prstGeom prst="roundRect">
            <a:avLst/>
          </a:prstGeom>
          <a:solidFill>
            <a:srgbClr val="E1F1E5"/>
          </a:solidFill>
          <a:ln>
            <a:solidFill>
              <a:srgbClr val="CDE1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325880"/>
            <a:ext cx="73152" cy="1965960"/>
          </a:xfrm>
          <a:prstGeom prst="rect">
            <a:avLst/>
          </a:prstGeom>
          <a:solidFill>
            <a:srgbClr val="1E6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63039"/>
            <a:ext cx="4983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0432A"/>
                </a:solidFill>
              </a:defRPr>
            </a:pPr>
            <a:r>
              <a:t>Central Government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92807"/>
            <a:ext cx="4448810" cy="1198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 sz="1350">
                <a:solidFill>
                  <a:srgbClr val="232D28"/>
                </a:solidFill>
              </a:defRPr>
            </a:pPr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PM-KISAN • PMFBY • Kisan Credit Card </a:t>
            </a:r>
            <a:endParaRPr sz="18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defRPr sz="1350">
                <a:solidFill>
                  <a:srgbClr val="232D28"/>
                </a:solidFill>
              </a:defRPr>
            </a:pPr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• PM-KUSUM • PMKSY </a:t>
            </a:r>
            <a:endParaRPr sz="18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defRPr sz="1350">
                <a:solidFill>
                  <a:srgbClr val="232D28"/>
                </a:solidFill>
              </a:defRPr>
            </a:pPr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• Agriculture Infrastructure Fund </a:t>
            </a:r>
            <a:endParaRPr sz="18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defRPr sz="1350">
                <a:solidFill>
                  <a:srgbClr val="232D28"/>
                </a:solidFill>
              </a:defRPr>
            </a:pPr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• Soil Health Card • FPOs</a:t>
            </a:r>
            <a:endParaRPr sz="18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172200" y="1325880"/>
            <a:ext cx="5303520" cy="1965960"/>
          </a:xfrm>
          <a:prstGeom prst="roundRect">
            <a:avLst/>
          </a:prstGeom>
          <a:solidFill>
            <a:srgbClr val="E1F1E5"/>
          </a:solidFill>
          <a:ln>
            <a:solidFill>
              <a:srgbClr val="CDE1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1325880"/>
            <a:ext cx="73152" cy="1965960"/>
          </a:xfrm>
          <a:prstGeom prst="rect">
            <a:avLst/>
          </a:prstGeom>
          <a:solidFill>
            <a:srgbClr val="23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463039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0432A"/>
                </a:solidFill>
              </a:defRPr>
            </a:pPr>
            <a:r>
              <a:t>Andhra Pradesh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892807"/>
            <a:ext cx="4645025" cy="1198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indent="0">
              <a:buFont typeface="Arial" panose="020B0604020202020204" pitchFamily="34" charset="0"/>
              <a:buNone/>
              <a:defRPr sz="1350">
                <a:solidFill>
                  <a:srgbClr val="232D28"/>
                </a:solidFill>
              </a:defRPr>
            </a:pPr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Annadatha Sukhibhava–PM KISAN </a:t>
            </a:r>
            <a:endParaRPr sz="18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>
              <a:buFont typeface="Arial" panose="020B0604020202020204" pitchFamily="34" charset="0"/>
              <a:buNone/>
              <a:defRPr sz="1350">
                <a:solidFill>
                  <a:srgbClr val="232D28"/>
                </a:solidFill>
              </a:defRPr>
            </a:pPr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• Rythu Bharosa Kendras • Farm Mechanization </a:t>
            </a:r>
            <a:endParaRPr sz="18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>
              <a:buFont typeface="Arial" panose="020B0604020202020204" pitchFamily="34" charset="0"/>
              <a:buNone/>
              <a:defRPr sz="1350">
                <a:solidFill>
                  <a:srgbClr val="232D28"/>
                </a:solidFill>
              </a:defRPr>
            </a:pPr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• APMIP • Crop Insurance • e-Panta </a:t>
            </a:r>
            <a:endParaRPr sz="18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>
              <a:buFont typeface="Arial" panose="020B0604020202020204" pitchFamily="34" charset="0"/>
              <a:buNone/>
              <a:defRPr sz="1350">
                <a:solidFill>
                  <a:srgbClr val="232D28"/>
                </a:solidFill>
              </a:defRPr>
            </a:pPr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• Crop Damage Support • Horticulture &amp; MIDH</a:t>
            </a:r>
            <a:endParaRPr sz="18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85800" y="3703320"/>
            <a:ext cx="5394960" cy="1508760"/>
          </a:xfrm>
          <a:prstGeom prst="roundRect">
            <a:avLst/>
          </a:prstGeom>
          <a:solidFill>
            <a:srgbClr val="E1F1E5"/>
          </a:solidFill>
          <a:ln>
            <a:solidFill>
              <a:srgbClr val="CDE1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3703320"/>
            <a:ext cx="73152" cy="1508760"/>
          </a:xfrm>
          <a:prstGeom prst="rect">
            <a:avLst/>
          </a:prstGeom>
          <a:solidFill>
            <a:srgbClr val="D6A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840480"/>
            <a:ext cx="4983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0432A"/>
                </a:solidFill>
              </a:defRPr>
            </a:pPr>
            <a:r>
              <a:t>Official access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270248"/>
            <a:ext cx="5034280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232D28"/>
                </a:solidFill>
              </a:defRPr>
            </a:pPr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The prototype provides official website buttons so </a:t>
            </a:r>
            <a:endParaRPr sz="18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defRPr sz="1350">
                <a:solidFill>
                  <a:srgbClr val="232D28"/>
                </a:solidFill>
              </a:defRPr>
            </a:pPr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users can continue to the relevant government portal.</a:t>
            </a:r>
            <a:endParaRPr sz="18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172200" y="3703320"/>
            <a:ext cx="5303520" cy="1508760"/>
          </a:xfrm>
          <a:prstGeom prst="roundRect">
            <a:avLst/>
          </a:prstGeom>
          <a:solidFill>
            <a:srgbClr val="E1F1E5"/>
          </a:solidFill>
          <a:ln>
            <a:solidFill>
              <a:srgbClr val="CDE1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3703320"/>
            <a:ext cx="73152" cy="1508760"/>
          </a:xfrm>
          <a:prstGeom prst="rect">
            <a:avLst/>
          </a:prstGeom>
          <a:solidFill>
            <a:srgbClr val="1E6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3840480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0432A"/>
                </a:solidFill>
              </a:defRPr>
            </a:pPr>
            <a:r>
              <a:t>Important note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8880" y="4190365"/>
            <a:ext cx="5403850" cy="100203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1350">
                <a:solidFill>
                  <a:srgbClr val="232D28"/>
                </a:solidFill>
              </a:defRPr>
            </a:pPr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Scheme names, eligibility and guidelines can change. </a:t>
            </a:r>
            <a:endParaRPr sz="18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defRPr sz="1350">
                <a:solidFill>
                  <a:srgbClr val="232D28"/>
                </a:solidFill>
              </a:defRPr>
            </a:pPr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A production version should verify current information </a:t>
            </a:r>
            <a:endParaRPr sz="18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defRPr sz="1350">
                <a:solidFill>
                  <a:srgbClr val="232D28"/>
                </a:solidFill>
              </a:defRPr>
            </a:pPr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from official government sources.</a:t>
            </a:r>
            <a:endParaRPr sz="18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104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0" y="6629400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0432A"/>
                </a:solidFill>
              </a:defRPr>
            </a:pPr>
            <a:r>
              <a:t>Technology &amp; Working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E69"/>
                </a:solidFill>
              </a:defRPr>
            </a:pPr>
            <a:r>
              <a:t>Frontend prototype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3429000" cy="1508760"/>
          </a:xfrm>
          <a:prstGeom prst="roundRect">
            <a:avLst/>
          </a:prstGeom>
          <a:solidFill>
            <a:srgbClr val="E1F1E5"/>
          </a:solidFill>
          <a:ln>
            <a:solidFill>
              <a:srgbClr val="CDE1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325880"/>
            <a:ext cx="73152" cy="1508760"/>
          </a:xfrm>
          <a:prstGeom prst="rect">
            <a:avLst/>
          </a:prstGeom>
          <a:solidFill>
            <a:srgbClr val="1E6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63039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0432A"/>
                </a:solidFill>
              </a:defRPr>
            </a:pPr>
            <a:r>
              <a:t>HTML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92807"/>
            <a:ext cx="3178810" cy="506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232D28"/>
                </a:solidFill>
              </a:defRPr>
            </a:pPr>
            <a:r>
              <a:t>Page structure, forms, dashboard sections, </a:t>
            </a:r>
          </a:p>
          <a:p>
            <a:pPr>
              <a:defRPr sz="1350">
                <a:solidFill>
                  <a:srgbClr val="232D28"/>
                </a:solidFill>
              </a:defRPr>
            </a:pPr>
            <a:r>
              <a:t>scheme area and farmer information.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25880"/>
            <a:ext cx="3429000" cy="1508760"/>
          </a:xfrm>
          <a:prstGeom prst="roundRect">
            <a:avLst/>
          </a:prstGeom>
          <a:solidFill>
            <a:srgbClr val="E1F1E5"/>
          </a:solidFill>
          <a:ln>
            <a:solidFill>
              <a:srgbClr val="CDE1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325880"/>
            <a:ext cx="73152" cy="1508760"/>
          </a:xfrm>
          <a:prstGeom prst="rect">
            <a:avLst/>
          </a:prstGeom>
          <a:solidFill>
            <a:srgbClr val="23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463039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0432A"/>
                </a:solidFill>
              </a:defRPr>
            </a:pPr>
            <a:r>
              <a:t>CSS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0720" y="1814830"/>
            <a:ext cx="3144520" cy="90106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1350">
                <a:solidFill>
                  <a:srgbClr val="232D28"/>
                </a:solidFill>
              </a:defRPr>
            </a:pPr>
            <a:r>
              <a:t>Agricultural green/blue theme, rounded cards,</a:t>
            </a:r>
          </a:p>
          <a:p>
            <a:pPr>
              <a:defRPr sz="1350">
                <a:solidFill>
                  <a:srgbClr val="232D28"/>
                </a:solidFill>
              </a:defRPr>
            </a:pPr>
            <a:r>
              <a:t> hero background, responsive layout and </a:t>
            </a:r>
          </a:p>
          <a:p>
            <a:pPr>
              <a:defRPr sz="1350">
                <a:solidFill>
                  <a:srgbClr val="232D28"/>
                </a:solidFill>
              </a:defRPr>
            </a:pPr>
            <a:r>
              <a:t>mobile design.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325880"/>
            <a:ext cx="3429000" cy="1508760"/>
          </a:xfrm>
          <a:prstGeom prst="roundRect">
            <a:avLst/>
          </a:prstGeom>
          <a:solidFill>
            <a:srgbClr val="E1F1E5"/>
          </a:solidFill>
          <a:ln>
            <a:solidFill>
              <a:srgbClr val="CDE1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1325880"/>
            <a:ext cx="73152" cy="1508760"/>
          </a:xfrm>
          <a:prstGeom prst="rect">
            <a:avLst/>
          </a:prstGeom>
          <a:solidFill>
            <a:srgbClr val="D6A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463039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0432A"/>
                </a:solidFill>
              </a:defRPr>
            </a:pPr>
            <a:r>
              <a:t>JavaScript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1892807"/>
            <a:ext cx="3134360" cy="714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232D28"/>
                </a:solidFill>
              </a:defRPr>
            </a:pPr>
            <a:r>
              <a:t>Search, filtering, scheme details, language </a:t>
            </a:r>
          </a:p>
          <a:p>
            <a:pPr>
              <a:defRPr sz="1350">
                <a:solidFill>
                  <a:srgbClr val="232D28"/>
                </a:solidFill>
              </a:defRPr>
            </a:pPr>
            <a:r>
              <a:t>switching, login demo and </a:t>
            </a:r>
          </a:p>
          <a:p>
            <a:pPr>
              <a:defRPr sz="1350">
                <a:solidFill>
                  <a:srgbClr val="232D28"/>
                </a:solidFill>
              </a:defRPr>
            </a:pPr>
            <a:r>
              <a:t>payment/document interactions.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14600" y="3429000"/>
            <a:ext cx="3429000" cy="1508760"/>
          </a:xfrm>
          <a:prstGeom prst="roundRect">
            <a:avLst/>
          </a:prstGeom>
          <a:solidFill>
            <a:srgbClr val="E1F1E5"/>
          </a:solidFill>
          <a:ln>
            <a:solidFill>
              <a:srgbClr val="CDE1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14600" y="3429000"/>
            <a:ext cx="73152" cy="1508760"/>
          </a:xfrm>
          <a:prstGeom prst="rect">
            <a:avLst/>
          </a:prstGeom>
          <a:solidFill>
            <a:srgbClr val="1E6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0" y="356616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0432A"/>
                </a:solidFill>
              </a:defRPr>
            </a:pPr>
            <a:r>
              <a:t>Demo data &amp; storage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3995928"/>
            <a:ext cx="3204845" cy="506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232D28"/>
                </a:solidFill>
              </a:defRPr>
            </a:pPr>
            <a:r>
              <a:t>localStorage can retain demo language and </a:t>
            </a:r>
          </a:p>
          <a:p>
            <a:pPr>
              <a:defRPr sz="1350">
                <a:solidFill>
                  <a:srgbClr val="232D28"/>
                </a:solidFill>
              </a:defRPr>
            </a:pPr>
            <a:r>
              <a:t>farmer-name/session information.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429000"/>
            <a:ext cx="3429000" cy="1508760"/>
          </a:xfrm>
          <a:prstGeom prst="roundRect">
            <a:avLst/>
          </a:prstGeom>
          <a:solidFill>
            <a:srgbClr val="E1F1E5"/>
          </a:solidFill>
          <a:ln>
            <a:solidFill>
              <a:srgbClr val="CDE1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3429000"/>
            <a:ext cx="73152" cy="1508760"/>
          </a:xfrm>
          <a:prstGeom prst="rect">
            <a:avLst/>
          </a:prstGeom>
          <a:solidFill>
            <a:srgbClr val="23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356616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0432A"/>
                </a:solidFill>
              </a:defRPr>
            </a:pPr>
            <a:r>
              <a:t>Future backend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90945" y="3932555"/>
            <a:ext cx="3529965" cy="7778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350">
                <a:solidFill>
                  <a:srgbClr val="232D28"/>
                </a:solidFill>
              </a:defRPr>
            </a:pPr>
            <a:r>
              <a:t>Secure authentication, database and </a:t>
            </a:r>
          </a:p>
          <a:p>
            <a:pPr>
              <a:defRPr sz="1350">
                <a:solidFill>
                  <a:srgbClr val="232D28"/>
                </a:solidFill>
              </a:defRPr>
            </a:pPr>
            <a:r>
              <a:t>authorized government/financial integrations </a:t>
            </a:r>
          </a:p>
          <a:p>
            <a:pPr>
              <a:defRPr sz="1350">
                <a:solidFill>
                  <a:srgbClr val="232D28"/>
                </a:solidFill>
              </a:defRPr>
            </a:pPr>
            <a:r>
              <a:t>would be required for real deployment.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104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0" y="6629400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4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Conclusion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00200"/>
            <a:ext cx="7132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FFFFFF"/>
                </a:solidFill>
              </a:defRPr>
            </a:pPr>
            <a:r>
              <a:t>• RYTHU SEVA brings farmer-focused information into one simple digital interface.</a:t>
            </a:r>
          </a:p>
          <a:p>
            <a:pPr>
              <a:spcAft>
                <a:spcPts val="1100"/>
              </a:spcAft>
              <a:defRPr sz="1900">
                <a:solidFill>
                  <a:srgbClr val="FFFFFF"/>
                </a:solidFill>
              </a:defRPr>
            </a:pPr>
            <a:r>
              <a:t>• It demonstrates scheme discovery, eligibility guidance, documents, dashboard services and bilingual access.</a:t>
            </a:r>
          </a:p>
          <a:p>
            <a:pPr>
              <a:spcAft>
                <a:spcPts val="1100"/>
              </a:spcAft>
              <a:defRPr sz="1900">
                <a:solidFill>
                  <a:srgbClr val="FFFFFF"/>
                </a:solidFill>
              </a:defRPr>
            </a:pPr>
            <a:r>
              <a:t>• Future versions can connect securely with verified government services and real application/payment data.</a:t>
            </a:r>
          </a:p>
          <a:p>
            <a:pPr>
              <a:spcAft>
                <a:spcPts val="1100"/>
              </a:spcAft>
              <a:defRPr sz="1900">
                <a:solidFill>
                  <a:srgbClr val="FFFFFF"/>
                </a:solidFill>
              </a:defRPr>
            </a:pPr>
            <a:r>
              <a:t>• The goal is to reduce information gaps and make farmer services easier to access.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0" y="1828800"/>
            <a:ext cx="2926080" cy="2560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0432A"/>
                </a:solidFill>
              </a:defRPr>
            </a:pPr>
            <a:r>
              <a:t>🌾 RYTHU SEVA</a:t>
            </a:r>
          </a:p>
          <a:p>
            <a:pPr algn="ctr">
              <a:defRPr sz="1600">
                <a:solidFill>
                  <a:srgbClr val="1E683E"/>
                </a:solidFill>
              </a:defRPr>
            </a:pPr>
            <a:r>
              <a:t>Supporting Farmers</a:t>
            </a:r>
            <a:br/>
            <a:r>
              <a:t>Strengthening Communities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104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629400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0000">
              <a:schemeClr val="accent4"/>
            </a:gs>
            <a:gs pos="0">
              <a:schemeClr val="accent4">
                <a:lumMod val="25000"/>
                <a:lumOff val="75000"/>
              </a:schemeClr>
            </a:gs>
            <a:gs pos="100000">
              <a:schemeClr val="accent4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3726815" y="3175635"/>
            <a:ext cx="7309485" cy="1322070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wrap="square" rtlCol="0">
            <a:spAutoFit/>
          </a:bodyPr>
          <a:p>
            <a:r>
              <a:rPr lang="en-IN" altLang="en-US" sz="8000">
                <a:latin typeface="Bodoni MT Black" panose="02070A03080606020203" charset="0"/>
                <a:cs typeface="Bodoni MT Black" panose="02070A03080606020203" charset="0"/>
              </a:rPr>
              <a:t>Any Queries ?</a:t>
            </a:r>
            <a:endParaRPr lang="en-IN" altLang="en-US" sz="8000">
              <a:latin typeface="Bodoni MT Black" panose="02070A03080606020203" charset="0"/>
              <a:cs typeface="Bodoni MT Black" panose="02070A03080606020203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604520" y="1246505"/>
            <a:ext cx="6617970" cy="8686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IN" altLang="en-US" sz="2400">
                <a:latin typeface="Bodoni MT Black" panose="02070A03080606020203" charset="0"/>
                <a:cs typeface="Bodoni MT Black" panose="02070A03080606020203" charset="0"/>
              </a:rPr>
              <a:t>website link:</a:t>
            </a:r>
            <a:endParaRPr lang="en-IN" altLang="en-US" sz="2400">
              <a:latin typeface="Bodoni MT Black" panose="02070A03080606020203" charset="0"/>
              <a:cs typeface="Bodoni MT Black" panose="02070A03080606020203" charset="0"/>
            </a:endParaRPr>
          </a:p>
          <a:p>
            <a:r>
              <a:rPr lang="en-IN" altLang="en-US" sz="2400">
                <a:latin typeface="Bodoni MT Black" panose="02070A03080606020203" charset="0"/>
                <a:cs typeface="Bodoni MT Black" panose="02070A03080606020203" charset="0"/>
              </a:rPr>
              <a:t>                    </a:t>
            </a:r>
            <a:r>
              <a:rPr lang="en-US" altLang="en-US" sz="2400">
                <a:latin typeface="Bodoni MT Black" panose="02070A03080606020203" charset="0"/>
                <a:cs typeface="Bodoni MT Black" panose="02070A03080606020203" charset="0"/>
                <a:hlinkClick r:id="rId1" tooltip="" action="ppaction://hlinkfile"/>
              </a:rPr>
              <a:t>https://rythusevafarmers.vercel.app/</a:t>
            </a:r>
            <a:r>
              <a:rPr lang="en-IN" altLang="en-US" sz="2400">
                <a:latin typeface="Bodoni MT Black" panose="02070A03080606020203" charset="0"/>
                <a:cs typeface="Bodoni MT Black" panose="02070A03080606020203" charset="0"/>
              </a:rPr>
              <a:t> </a:t>
            </a:r>
            <a:r>
              <a:rPr lang="en-IN" altLang="en-US">
                <a:latin typeface="Bodoni MT Black" panose="02070A03080606020203" charset="0"/>
                <a:cs typeface="Bodoni MT Black" panose="02070A03080606020203" charset="0"/>
              </a:rPr>
              <a:t>                       </a:t>
            </a:r>
            <a:endParaRPr lang="en-IN" altLang="en-US">
              <a:latin typeface="Bodoni MT Black" panose="02070A03080606020203" charset="0"/>
              <a:cs typeface="Bodoni MT Black" panose="02070A03080606020203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ferris dir="l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3" name="Text Box 2"/>
          <p:cNvSpPr txBox="1"/>
          <p:nvPr/>
        </p:nvSpPr>
        <p:spPr>
          <a:xfrm>
            <a:off x="854710" y="932815"/>
            <a:ext cx="8335010" cy="1599565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wrap="square" rtlCol="0">
            <a:spAutoFit/>
          </a:bodyPr>
          <a:p>
            <a:r>
              <a:rPr lang="en-IN" altLang="en-US" sz="8000">
                <a:latin typeface="Bodoni MT Black" panose="02070A03080606020203" charset="0"/>
                <a:cs typeface="Bodoni MT Black" panose="02070A03080606020203" charset="0"/>
              </a:rPr>
              <a:t>THANK YOU</a:t>
            </a:r>
            <a:endParaRPr lang="en-IN" altLang="en-US"/>
          </a:p>
          <a:p>
            <a:endParaRPr lang="en-IN" altLang="en-US"/>
          </a:p>
        </p:txBody>
      </p:sp>
      <p:sp>
        <p:nvSpPr>
          <p:cNvPr id="4" name="Text Box 3"/>
          <p:cNvSpPr txBox="1"/>
          <p:nvPr/>
        </p:nvSpPr>
        <p:spPr>
          <a:xfrm>
            <a:off x="7242810" y="49403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ferris dir="l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Module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3409</Words>
  <Application>WPS Presentation</Application>
  <PresentationFormat>On-screen Show (4:3)</PresentationFormat>
  <Paragraphs>186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9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Bodoni MT Black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Tejaswani Dhanasani</cp:lastModifiedBy>
  <cp:revision>2</cp:revision>
  <dcterms:created xsi:type="dcterms:W3CDTF">2013-01-27T09:14:00Z</dcterms:created>
  <dcterms:modified xsi:type="dcterms:W3CDTF">2026-10-05T06:14:43Z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E1EDEDDFEA534B69BF5707E672D4A82E_12</vt:lpwstr>
  </property>
</Properties>
</file>